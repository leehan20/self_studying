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sldIdLst>
    <p:sldId id="601" r:id="rId2"/>
    <p:sldId id="621" r:id="rId3"/>
    <p:sldId id="618" r:id="rId4"/>
    <p:sldId id="619" r:id="rId5"/>
    <p:sldId id="272" r:id="rId6"/>
    <p:sldId id="275" r:id="rId7"/>
    <p:sldId id="617" r:id="rId8"/>
    <p:sldId id="616" r:id="rId9"/>
  </p:sldIdLst>
  <p:sldSz cx="9906000" cy="6858000" type="A4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2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318" autoAdjust="0"/>
    <p:restoredTop sz="94660"/>
  </p:normalViewPr>
  <p:slideViewPr>
    <p:cSldViewPr>
      <p:cViewPr varScale="1">
        <p:scale>
          <a:sx n="85" d="100"/>
          <a:sy n="85" d="100"/>
        </p:scale>
        <p:origin x="192" y="648"/>
      </p:cViewPr>
      <p:guideLst>
        <p:guide orient="horz" pos="1117"/>
        <p:guide pos="2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8209" cy="496729"/>
          </a:xfrm>
          <a:prstGeom prst="rect">
            <a:avLst/>
          </a:prstGeom>
        </p:spPr>
        <p:txBody>
          <a:bodyPr vert="horz" lIns="92355" tIns="46177" rIns="92355" bIns="4617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609" y="0"/>
            <a:ext cx="2948208" cy="496729"/>
          </a:xfrm>
          <a:prstGeom prst="rect">
            <a:avLst/>
          </a:prstGeom>
        </p:spPr>
        <p:txBody>
          <a:bodyPr vert="horz" lIns="92355" tIns="46177" rIns="92355" bIns="4617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C9C92B5-2A33-4433-9E65-2079D7F25F74}" type="datetimeFigureOut">
              <a:rPr lang="ko-KR" altLang="en-US"/>
              <a:pPr>
                <a:defRPr/>
              </a:pPr>
              <a:t>2025. 10. 1.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1625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55" tIns="46177" rIns="92355" bIns="46177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31" y="4718923"/>
            <a:ext cx="5440978" cy="4470559"/>
          </a:xfrm>
          <a:prstGeom prst="rect">
            <a:avLst/>
          </a:prstGeom>
        </p:spPr>
        <p:txBody>
          <a:bodyPr vert="horz" lIns="92355" tIns="46177" rIns="92355" bIns="46177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6255"/>
            <a:ext cx="2948209" cy="496729"/>
          </a:xfrm>
          <a:prstGeom prst="rect">
            <a:avLst/>
          </a:prstGeom>
        </p:spPr>
        <p:txBody>
          <a:bodyPr vert="horz" lIns="92355" tIns="46177" rIns="92355" bIns="4617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609" y="9436255"/>
            <a:ext cx="2948208" cy="496729"/>
          </a:xfrm>
          <a:prstGeom prst="rect">
            <a:avLst/>
          </a:prstGeom>
        </p:spPr>
        <p:txBody>
          <a:bodyPr vert="horz" lIns="92355" tIns="46177" rIns="92355" bIns="4617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8CC4FB3-9939-466D-9B2B-F37DB2C092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4832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5:notes"/>
          <p:cNvSpPr txBox="1">
            <a:spLocks noGrp="1"/>
          </p:cNvSpPr>
          <p:nvPr>
            <p:ph type="body" idx="1"/>
          </p:nvPr>
        </p:nvSpPr>
        <p:spPr>
          <a:xfrm>
            <a:off x="679778" y="4711388"/>
            <a:ext cx="5433361" cy="446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02" tIns="46101" rIns="92202" bIns="46101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197" name="Google Shape;197;p5:notes"/>
          <p:cNvSpPr txBox="1">
            <a:spLocks noGrp="1"/>
          </p:cNvSpPr>
          <p:nvPr>
            <p:ph type="sldNum" idx="12"/>
          </p:nvPr>
        </p:nvSpPr>
        <p:spPr>
          <a:xfrm>
            <a:off x="3847215" y="9421184"/>
            <a:ext cx="2944081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02" tIns="46101" rIns="92202" bIns="46101" anchor="b" anchorCtr="0">
            <a:noAutofit/>
          </a:bodyPr>
          <a:lstStyle/>
          <a:p>
            <a:pPr algn="r"/>
            <a:fld id="{00000000-1234-1234-1234-123412341234}" type="slidenum">
              <a:rPr lang="en-US" altLang="ko-KR"/>
              <a:pPr algn="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44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622f2e84f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686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622f2e84f2_0_56:notes"/>
          <p:cNvSpPr txBox="1">
            <a:spLocks noGrp="1"/>
          </p:cNvSpPr>
          <p:nvPr>
            <p:ph type="body" idx="1"/>
          </p:nvPr>
        </p:nvSpPr>
        <p:spPr>
          <a:xfrm>
            <a:off x="680254" y="4715153"/>
            <a:ext cx="5437290" cy="446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6" tIns="46138" rIns="92276" bIns="46138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139" name="Google Shape;139;g1622f2e84f2_0_56:notes"/>
          <p:cNvSpPr txBox="1">
            <a:spLocks noGrp="1"/>
          </p:cNvSpPr>
          <p:nvPr>
            <p:ph type="sldNum" idx="12"/>
          </p:nvPr>
        </p:nvSpPr>
        <p:spPr>
          <a:xfrm>
            <a:off x="3849911" y="9428716"/>
            <a:ext cx="2946036" cy="49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6" tIns="46138" rIns="92276" bIns="46138" anchor="b" anchorCtr="0">
            <a:noAutofit/>
          </a:bodyPr>
          <a:lstStyle/>
          <a:p>
            <a:pPr algn="r"/>
            <a:fld id="{00000000-1234-1234-1234-123412341234}" type="slidenum">
              <a:rPr lang="en-US" altLang="ko-KR"/>
              <a:pPr algn="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0335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79778" y="4711388"/>
            <a:ext cx="5433361" cy="446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02" tIns="46101" rIns="92202" bIns="46101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188" name="Google Shape;188;p4:notes"/>
          <p:cNvSpPr txBox="1">
            <a:spLocks noGrp="1"/>
          </p:cNvSpPr>
          <p:nvPr>
            <p:ph type="sldNum" idx="12"/>
          </p:nvPr>
        </p:nvSpPr>
        <p:spPr>
          <a:xfrm>
            <a:off x="3847215" y="9421184"/>
            <a:ext cx="2944081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02" tIns="46101" rIns="92202" bIns="46101" anchor="b" anchorCtr="0">
            <a:noAutofit/>
          </a:bodyPr>
          <a:lstStyle/>
          <a:p>
            <a:pPr algn="r"/>
            <a:fld id="{00000000-1234-1234-1234-123412341234}" type="slidenum">
              <a:rPr lang="en-US" altLang="ko-KR"/>
              <a:pPr algn="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8841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1742952"/>
            <a:ext cx="8420100" cy="1470025"/>
          </a:xfr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none"/>
        </p:style>
        <p:txBody>
          <a:bodyPr/>
          <a:lstStyle>
            <a:lvl1pPr algn="ctr">
              <a:defRPr sz="4767" u="none">
                <a:effectLst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033" b="1">
                <a:solidFill>
                  <a:schemeClr val="tx1"/>
                </a:solidFill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93103-F076-4B1C-93CB-E5AC289C0CA1}" type="datetime1">
              <a:rPr lang="ko-KR" altLang="en-US" smtClean="0"/>
              <a:pPr>
                <a:defRPr/>
              </a:pPr>
              <a:t>2025. 10. 1.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6232F-E227-4EF3-97B7-7BD1A2FF6832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/>
          <p:cNvSpPr>
            <a:spLocks noChangeArrowheads="1"/>
          </p:cNvSpPr>
          <p:nvPr userDrawn="1"/>
        </p:nvSpPr>
        <p:spPr bwMode="auto">
          <a:xfrm>
            <a:off x="1599407" y="1412875"/>
            <a:ext cx="6629797" cy="46038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98627" y="720080"/>
            <a:ext cx="6630737" cy="692696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598627" y="1772815"/>
            <a:ext cx="6630737" cy="4284000"/>
          </a:xfrm>
          <a:ln w="3175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557195" indent="-557195">
              <a:buFont typeface="+mj-lt"/>
              <a:buAutoNum type="arabicPeriod"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15D23-5D70-4D3E-8CD8-33DA8EBC9FFC}" type="datetime1">
              <a:rPr lang="ko-KR" altLang="en-US" smtClean="0"/>
              <a:pPr>
                <a:defRPr/>
              </a:pPr>
              <a:t>2025. 10. 1.</a:t>
            </a:fld>
            <a:endParaRPr lang="ko-KR" altLang="en-US"/>
          </a:p>
        </p:txBody>
      </p:sp>
      <p:sp>
        <p:nvSpPr>
          <p:cNvPr id="7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401272" y="6356351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&lt;</a:t>
            </a:r>
            <a:fld id="{1043B9E5-72EB-409C-9726-902C31E830E7}" type="slidenum">
              <a:rPr lang="ko-KR" altLang="en-US" smtClean="0"/>
              <a:pPr>
                <a:defRPr/>
              </a:pPr>
              <a:t>‹#›</a:t>
            </a:fld>
            <a:r>
              <a:rPr lang="en-US" altLang="ko-KR" dirty="0"/>
              <a:t>&gt;</a:t>
            </a:r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 anchor="ctr">
            <a:noAutofit/>
          </a:bodyPr>
          <a:lstStyle>
            <a:lvl1pPr marL="0">
              <a:buNone/>
              <a:defRPr sz="2167" b="1"/>
            </a:lvl1pPr>
            <a:lvl2pPr>
              <a:defRPr sz="1950"/>
            </a:lvl2pPr>
            <a:lvl3pPr>
              <a:defRPr sz="1733"/>
            </a:lvl3pPr>
            <a:lvl4pPr>
              <a:defRPr sz="1517"/>
            </a:lvl4pPr>
            <a:lvl5pPr>
              <a:defRPr sz="1517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3B9E5-72EB-409C-9726-902C31E830E7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1pPr>
            <a:lvl2pPr marL="495285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BBB55-BEAB-4CB4-86F0-3E7423AE3240}" type="datetime1">
              <a:rPr lang="ko-KR" altLang="en-US" smtClean="0"/>
              <a:pPr>
                <a:defRPr/>
              </a:pPr>
              <a:t>2025. 10. 1.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6006F-71D6-4C66-B6BA-AC0893929FC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 anchor="ctr">
            <a:noAutofit/>
          </a:bodyPr>
          <a:lstStyle>
            <a:lvl1pPr marL="0">
              <a:buNone/>
              <a:defRPr sz="2167" b="1"/>
            </a:lvl1pPr>
            <a:lvl2pPr>
              <a:defRPr sz="1950"/>
            </a:lvl2pPr>
            <a:lvl3pPr>
              <a:defRPr sz="1733"/>
            </a:lvl3pPr>
            <a:lvl4pPr>
              <a:defRPr sz="1517"/>
            </a:lvl4pPr>
            <a:lvl5pPr>
              <a:defRPr sz="1517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날짜 개체 틀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0" name="바닥글 개체 틀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1" name="슬라이드 번호 개체 틀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791A7-B86D-4B57-9B61-BD393F1B7E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11"/>
          <p:cNvCxnSpPr/>
          <p:nvPr userDrawn="1"/>
        </p:nvCxnSpPr>
        <p:spPr>
          <a:xfrm>
            <a:off x="5030391" y="1773238"/>
            <a:ext cx="4368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13"/>
          <p:cNvCxnSpPr/>
          <p:nvPr userDrawn="1"/>
        </p:nvCxnSpPr>
        <p:spPr>
          <a:xfrm>
            <a:off x="507339" y="1773238"/>
            <a:ext cx="43682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980728"/>
            <a:ext cx="4376870" cy="78377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1764506"/>
            <a:ext cx="4376870" cy="4328790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980728"/>
            <a:ext cx="4378590" cy="78377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1764506"/>
            <a:ext cx="4378590" cy="4328790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12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3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E5FC0-F5F5-44C1-A173-9F48F4BA6B1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61BC5-48B6-4293-A9BC-59FABB0B70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58868-A2AC-4D17-8D28-FDAA9A93F0E9}" type="datetime1">
              <a:rPr lang="ko-KR" altLang="en-US" smtClean="0"/>
              <a:pPr>
                <a:defRPr/>
              </a:pPr>
              <a:t>2025. 10. 1.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D91FD-083D-4EBD-A831-D9A491ED4D25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7187B-2A83-4D17-91A0-A9F1D14428C9}" type="datetime1">
              <a:rPr lang="ko-KR" altLang="en-US" smtClean="0"/>
              <a:pPr>
                <a:defRPr/>
              </a:pPr>
              <a:t>2025. 10. 1.</a:t>
            </a:fld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C2BA2-0ED4-4E90-8B92-F467C0D458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0532" y="4800600"/>
            <a:ext cx="8424936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40532" y="612775"/>
            <a:ext cx="8424936" cy="4114800"/>
          </a:xfrm>
        </p:spPr>
        <p:txBody>
          <a:bodyPr rtlCol="0">
            <a:normAutofit/>
          </a:bodyPr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0532" y="5367338"/>
            <a:ext cx="8424936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4C9F3-89D2-450E-9FFF-220EFB8AB07A}" type="datetime1">
              <a:rPr lang="ko-KR" altLang="en-US" smtClean="0"/>
              <a:pPr>
                <a:defRPr/>
              </a:pPr>
              <a:t>2025. 10. 1.</a:t>
            </a:fld>
            <a:endParaRPr lang="ko-KR" altLang="en-US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B00D2-5378-49CE-BD63-BF09B8AD9A8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74E3C-AA61-448D-BAA7-1A172FB44AFF}" type="datetime1">
              <a:rPr lang="ko-KR" altLang="en-US" smtClean="0"/>
              <a:pPr>
                <a:defRPr/>
              </a:pPr>
              <a:t>2025. 10. 1.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7B118-DD98-4569-93E8-7B1921EB16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0FD8E-D748-477A-B558-B00196C3DC93}" type="datetime1">
              <a:rPr lang="ko-KR" altLang="en-US" smtClean="0"/>
              <a:pPr>
                <a:defRPr/>
              </a:pPr>
              <a:t>2025. 10. 1.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00A4C-00F6-42F6-B1B7-DE65AA4D5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1_제목 및 내용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/>
          <p:nvPr/>
        </p:nvSpPr>
        <p:spPr>
          <a:xfrm rot="10800000" flipH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2"/>
          </p:nvPr>
        </p:nvSpPr>
        <p:spPr>
          <a:xfrm>
            <a:off x="497291" y="764704"/>
            <a:ext cx="8913410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None/>
              <a:defRPr sz="2167" b="1"/>
            </a:lvl1pPr>
            <a:lvl2pPr marL="914400" lvl="1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–"/>
              <a:defRPr sz="1950"/>
            </a:lvl2pPr>
            <a:lvl3pPr marL="1371600" lvl="2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3pPr>
            <a:lvl4pPr marL="1828800" lvl="3" indent="-324929" algn="l">
              <a:spcBef>
                <a:spcPts val="303"/>
              </a:spcBef>
              <a:spcAft>
                <a:spcPts val="0"/>
              </a:spcAft>
              <a:buClr>
                <a:schemeClr val="dk1"/>
              </a:buClr>
              <a:buSzPts val="1517"/>
              <a:buChar char="–"/>
              <a:defRPr sz="1517"/>
            </a:lvl4pPr>
            <a:lvl5pPr marL="2286000" lvl="4" indent="-324929" algn="l">
              <a:spcBef>
                <a:spcPts val="303"/>
              </a:spcBef>
              <a:spcAft>
                <a:spcPts val="0"/>
              </a:spcAft>
              <a:buClr>
                <a:schemeClr val="dk1"/>
              </a:buClr>
              <a:buSzPts val="1517"/>
              <a:buChar char="»"/>
              <a:defRPr sz="1517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7401272" y="638600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46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44450"/>
            <a:ext cx="89154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1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3346084-779E-4103-89E4-35DC85D6893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0" r:id="rId4"/>
    <p:sldLayoutId id="2147483664" r:id="rId5"/>
    <p:sldLayoutId id="2147483665" r:id="rId6"/>
    <p:sldLayoutId id="2147483666" r:id="rId7"/>
    <p:sldLayoutId id="2147483659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03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167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</p:spPr>
        <p:txBody>
          <a:bodyPr/>
          <a:lstStyle/>
          <a:p>
            <a:r>
              <a:rPr lang="ko-KR" altLang="en-US" sz="2400" dirty="0"/>
              <a:t>강의에서 제시했던 도표들을 본인 팀의 창업아이템에 대하여 작성해서 제출하기</a:t>
            </a:r>
            <a:endParaRPr lang="en-US" altLang="ko-KR" sz="2400" dirty="0"/>
          </a:p>
          <a:p>
            <a:r>
              <a:rPr lang="ko-KR" altLang="en-US" sz="2400" dirty="0"/>
              <a:t>제출할 도표들은 다음 페이지부터 있음</a:t>
            </a:r>
            <a:endParaRPr lang="en-US" altLang="ko-KR" sz="1967" dirty="0"/>
          </a:p>
        </p:txBody>
      </p:sp>
      <p:sp>
        <p:nvSpPr>
          <p:cNvPr id="18433" name="제목 3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시장조사 과제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/>
          <a:p>
            <a:fld id="{0D485768-0143-4430-8742-4A42A1DE8B43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선정된 창업 아이템 정의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sz="half" idx="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아이템 </a:t>
            </a:r>
            <a:r>
              <a:rPr lang="ko-KR" altLang="en-US" sz="1400" dirty="0" err="1"/>
              <a:t>한줄</a:t>
            </a:r>
            <a:r>
              <a:rPr lang="ko-KR" altLang="en-US" sz="1400" dirty="0"/>
              <a:t> 소개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900" dirty="0"/>
              <a:t>ai</a:t>
            </a:r>
            <a:r>
              <a:rPr lang="ko-KR" altLang="en-US" sz="900" dirty="0"/>
              <a:t> 기반의 </a:t>
            </a:r>
            <a:r>
              <a:rPr lang="en-US" altLang="ko-KR" sz="900" dirty="0"/>
              <a:t>4</a:t>
            </a:r>
            <a:r>
              <a:rPr lang="ko-KR" altLang="en-US" sz="900" dirty="0"/>
              <a:t>차산업혁명 교육 복습 및 평가 시스템</a:t>
            </a:r>
            <a:endParaRPr lang="en-US" altLang="ko-KR" sz="900" dirty="0"/>
          </a:p>
          <a:p>
            <a:pPr marL="0" indent="0">
              <a:buNone/>
            </a:pPr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목표 고객 </a:t>
            </a:r>
            <a:r>
              <a:rPr lang="en-US" altLang="ko-KR" sz="1400" dirty="0"/>
              <a:t>:</a:t>
            </a:r>
            <a:r>
              <a:rPr lang="ko-KR" altLang="en-US" sz="1400" dirty="0"/>
              <a:t> 방과 후 시스템을 가진 학교 혹은 교사</a:t>
            </a:r>
            <a:endParaRPr lang="en-US" altLang="ko-KR" sz="1400" dirty="0"/>
          </a:p>
          <a:p>
            <a:pPr>
              <a:buFont typeface="Wingdings" panose="05000000000000000000" pitchFamily="2" charset="2"/>
              <a:buChar char="u"/>
            </a:pPr>
            <a:endParaRPr lang="en-US" altLang="ko-KR" sz="1400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 marL="604824" lvl="1" indent="-171450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u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기존의 문제점 </a:t>
            </a:r>
            <a:r>
              <a:rPr lang="en-US" altLang="ko-KR" sz="1400" dirty="0"/>
              <a:t>:</a:t>
            </a:r>
            <a:r>
              <a:rPr lang="ko-KR" altLang="en-US" sz="1400" dirty="0"/>
              <a:t> 방과 후 수업이 끝는 뒤 학생들의 학습 성취도를 알 수 없다</a:t>
            </a:r>
            <a:r>
              <a:rPr lang="en-US" altLang="ko-KR" sz="1400" dirty="0"/>
              <a:t>,</a:t>
            </a:r>
            <a:r>
              <a:rPr lang="ko-KR" altLang="en-US" sz="1400" dirty="0"/>
              <a:t> 가르치고 있는 교사가 평가 시스템까지 만들기에는 부담이 너무 크다</a:t>
            </a:r>
            <a:endParaRPr lang="en-US" altLang="ko-KR" sz="1400" dirty="0"/>
          </a:p>
          <a:p>
            <a:pPr marL="890574" lvl="1" indent="-457200"/>
            <a:endParaRPr lang="en-US" altLang="ko-KR" sz="967" dirty="0"/>
          </a:p>
          <a:p>
            <a:pPr marL="890574" lvl="1" indent="-457200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 marL="890574" lvl="1" indent="-457200"/>
            <a:endParaRPr lang="en-US" altLang="ko-KR" sz="967" dirty="0"/>
          </a:p>
          <a:p>
            <a:pPr marL="890574" lvl="1" indent="-457200"/>
            <a:endParaRPr lang="en-US" altLang="ko-KR" sz="767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A04C49-DCBD-2FBF-934A-E6D2ADCD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개선점 </a:t>
            </a:r>
            <a:r>
              <a:rPr lang="en-US" altLang="ko-KR" sz="1400" dirty="0"/>
              <a:t>(</a:t>
            </a:r>
            <a:r>
              <a:rPr lang="ko-KR" altLang="en-US" sz="1400" dirty="0"/>
              <a:t>장점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앱을 통해 수업 내용을 요약을 함으로서 학생들이 요약본을 읽을 수 있고 그에 따른 문제를 푼 것을 교사가 보면서 학생의 이해도를 판단할 수 있다</a:t>
            </a:r>
            <a:endParaRPr lang="en-US" altLang="ko-KR" sz="534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967" dirty="0"/>
          </a:p>
          <a:p>
            <a:pPr>
              <a:buFont typeface="Wingdings" panose="05000000000000000000" pitchFamily="2" charset="2"/>
              <a:buChar char="u"/>
            </a:pPr>
            <a:endParaRPr lang="en-US" altLang="ko-KR" sz="1400" dirty="0"/>
          </a:p>
          <a:p>
            <a:pPr>
              <a:buFont typeface="Wingdings" panose="05000000000000000000" pitchFamily="2" charset="2"/>
              <a:buChar char="u"/>
            </a:pPr>
            <a:r>
              <a:rPr lang="ko-KR" altLang="en-US" sz="1400" dirty="0"/>
              <a:t>기능 및 기대효과 </a:t>
            </a:r>
            <a:r>
              <a:rPr lang="en-US" altLang="ko-KR" sz="1400" dirty="0"/>
              <a:t>:</a:t>
            </a:r>
            <a:r>
              <a:rPr lang="ko-KR" altLang="en-US" sz="1400" dirty="0"/>
              <a:t> 수업 요약 및 중요개념 복습</a:t>
            </a:r>
            <a:endParaRPr lang="en-US" altLang="ko-KR" sz="1400" dirty="0"/>
          </a:p>
          <a:p>
            <a:pPr lvl="1">
              <a:buFont typeface="Wingdings" panose="05000000000000000000" pitchFamily="2" charset="2"/>
              <a:buChar char="§"/>
            </a:pPr>
            <a:endParaRPr lang="ko-KR" altLang="en-US" sz="967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창업 아이템명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/>
              <a:t>이든쌤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485768-0143-4430-8742-4A42A1DE8B43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5C273-CDB3-914B-A6E7-F4BC8DDB736B}"/>
              </a:ext>
            </a:extLst>
          </p:cNvPr>
          <p:cNvSpPr txBox="1"/>
          <p:nvPr/>
        </p:nvSpPr>
        <p:spPr>
          <a:xfrm>
            <a:off x="500908" y="6309320"/>
            <a:ext cx="3845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  <a:ea typeface="+mn-ea"/>
              </a:rPr>
              <a:t>* </a:t>
            </a:r>
            <a:r>
              <a:rPr lang="ko-KR" altLang="en-US" sz="1400" dirty="0">
                <a:latin typeface="+mn-ea"/>
                <a:ea typeface="+mn-ea"/>
              </a:rPr>
              <a:t>공간이 부족하면 페이지 추가해도 좋습니다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3751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3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시장 수요 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/>
          <a:lstStyle/>
          <a:p>
            <a:r>
              <a:rPr lang="ko-KR" altLang="en-US" dirty="0"/>
              <a:t>시장 규모 전망 예시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/>
          <a:p>
            <a:fld id="{0D485768-0143-4430-8742-4A42A1DE8B43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D41F5A9-5126-C8C6-2243-230A592C9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50" y="1430179"/>
            <a:ext cx="8330300" cy="497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486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3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시장 수요 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/>
          <a:lstStyle/>
          <a:p>
            <a:r>
              <a:rPr lang="ko-KR" altLang="en-US" dirty="0"/>
              <a:t>고객 설문조사 후 결과 예시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/>
          <a:p>
            <a:fld id="{0D485768-0143-4430-8742-4A42A1DE8B43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648793-9F23-A42A-F08A-43A39AFE6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712" y="1536819"/>
            <a:ext cx="4869160" cy="486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887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TAM/SAM/SOM </a:t>
            </a:r>
            <a:r>
              <a:rPr lang="ko-KR" altLang="en-US" dirty="0"/>
              <a:t>분석</a:t>
            </a:r>
            <a:endParaRPr dirty="0"/>
          </a:p>
        </p:txBody>
      </p:sp>
      <p:sp>
        <p:nvSpPr>
          <p:cNvPr id="200" name="Google Shape;200;p5"/>
          <p:cNvSpPr txBox="1">
            <a:spLocks noGrp="1"/>
          </p:cNvSpPr>
          <p:nvPr>
            <p:ph type="body" idx="2"/>
          </p:nvPr>
        </p:nvSpPr>
        <p:spPr>
          <a:xfrm>
            <a:off x="497291" y="764704"/>
            <a:ext cx="8913410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ko-KR" altLang="en-US" dirty="0"/>
              <a:t>목표 시장 설정</a:t>
            </a:r>
          </a:p>
        </p:txBody>
      </p:sp>
      <p:sp>
        <p:nvSpPr>
          <p:cNvPr id="201" name="Google Shape;201;p5"/>
          <p:cNvSpPr txBox="1">
            <a:spLocks noGrp="1"/>
          </p:cNvSpPr>
          <p:nvPr>
            <p:ph type="sldNum" idx="12"/>
          </p:nvPr>
        </p:nvSpPr>
        <p:spPr>
          <a:xfrm>
            <a:off x="7401272" y="638600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grpSp>
        <p:nvGrpSpPr>
          <p:cNvPr id="202" name="Google Shape;202;p5"/>
          <p:cNvGrpSpPr/>
          <p:nvPr/>
        </p:nvGrpSpPr>
        <p:grpSpPr>
          <a:xfrm>
            <a:off x="857212" y="1600200"/>
            <a:ext cx="4525963" cy="4525963"/>
            <a:chOff x="361912" y="0"/>
            <a:chExt cx="4525963" cy="4525963"/>
          </a:xfrm>
        </p:grpSpPr>
        <p:sp>
          <p:nvSpPr>
            <p:cNvPr id="203" name="Google Shape;203;p5"/>
            <p:cNvSpPr/>
            <p:nvPr/>
          </p:nvSpPr>
          <p:spPr>
            <a:xfrm>
              <a:off x="361912" y="0"/>
              <a:ext cx="4525963" cy="4525963"/>
            </a:xfrm>
            <a:prstGeom prst="ellipse">
              <a:avLst/>
            </a:prstGeom>
            <a:solidFill>
              <a:srgbClr val="2AA2B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+mn-ea"/>
                <a:ea typeface="+mn-ea"/>
              </a:endParaRPr>
            </a:p>
          </p:txBody>
        </p:sp>
        <p:sp>
          <p:nvSpPr>
            <p:cNvPr id="204" name="Google Shape;204;p5"/>
            <p:cNvSpPr txBox="1"/>
            <p:nvPr/>
          </p:nvSpPr>
          <p:spPr>
            <a:xfrm>
              <a:off x="1833981" y="226298"/>
              <a:ext cx="1581824" cy="678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1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 i="0" u="none" strike="noStrike" cap="none" dirty="0" err="1">
                  <a:solidFill>
                    <a:schemeClr val="lt1"/>
                  </a:solidFill>
                  <a:latin typeface="+mn-ea"/>
                  <a:ea typeface="+mn-ea"/>
                  <a:cs typeface="Gulim"/>
                  <a:sym typeface="Gulim"/>
                </a:rPr>
                <a:t>전체시장</a:t>
              </a:r>
              <a:endParaRPr lang="en-US" altLang="ko-KR" sz="1800" b="1" dirty="0">
                <a:solidFill>
                  <a:schemeClr val="lt1"/>
                </a:solidFill>
                <a:latin typeface="+mn-ea"/>
                <a:ea typeface="+mn-ea"/>
                <a:cs typeface="Gulim"/>
                <a:sym typeface="Gulim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+mn-ea"/>
                  <a:ea typeface="+mn-ea"/>
                  <a:sym typeface="Gulim"/>
                </a:rPr>
                <a:t>TAM</a:t>
              </a:r>
              <a:endParaRPr b="1" dirty="0">
                <a:latin typeface="+mn-ea"/>
                <a:ea typeface="+mn-ea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927657" y="1131490"/>
              <a:ext cx="3394472" cy="3394472"/>
            </a:xfrm>
            <a:prstGeom prst="ellipse">
              <a:avLst/>
            </a:prstGeom>
            <a:solidFill>
              <a:srgbClr val="2AA2B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+mn-ea"/>
                <a:ea typeface="+mn-ea"/>
              </a:endParaRPr>
            </a:p>
          </p:txBody>
        </p:sp>
        <p:sp>
          <p:nvSpPr>
            <p:cNvPr id="206" name="Google Shape;206;p5"/>
            <p:cNvSpPr txBox="1"/>
            <p:nvPr/>
          </p:nvSpPr>
          <p:spPr>
            <a:xfrm>
              <a:off x="1833981" y="1343645"/>
              <a:ext cx="1581824" cy="636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1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 i="0" u="none" strike="noStrike" cap="none" dirty="0" err="1">
                  <a:solidFill>
                    <a:schemeClr val="lt1"/>
                  </a:solidFill>
                  <a:latin typeface="+mn-ea"/>
                  <a:ea typeface="+mn-ea"/>
                  <a:cs typeface="Gulim"/>
                  <a:sym typeface="Gulim"/>
                </a:rPr>
                <a:t>유효시장</a:t>
              </a:r>
              <a:endParaRPr lang="en-US" altLang="ko-KR" sz="1800" b="1" i="0" u="none" strike="noStrike" cap="none" dirty="0">
                <a:solidFill>
                  <a:schemeClr val="lt1"/>
                </a:solidFill>
                <a:latin typeface="+mn-ea"/>
                <a:ea typeface="+mn-ea"/>
                <a:cs typeface="Gulim"/>
                <a:sym typeface="Gulim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+mn-ea"/>
                  <a:ea typeface="+mn-ea"/>
                  <a:sym typeface="Gulim"/>
                </a:rPr>
                <a:t>SAM</a:t>
              </a:r>
              <a:endParaRPr b="1" dirty="0">
                <a:latin typeface="+mn-ea"/>
                <a:ea typeface="+mn-ea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493403" y="2262981"/>
              <a:ext cx="2262981" cy="2262981"/>
            </a:xfrm>
            <a:prstGeom prst="ellipse">
              <a:avLst/>
            </a:prstGeom>
            <a:solidFill>
              <a:srgbClr val="2AA2B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+mn-ea"/>
                <a:ea typeface="+mn-ea"/>
              </a:endParaRPr>
            </a:p>
          </p:txBody>
        </p:sp>
        <p:sp>
          <p:nvSpPr>
            <p:cNvPr id="208" name="Google Shape;208;p5"/>
            <p:cNvSpPr txBox="1"/>
            <p:nvPr/>
          </p:nvSpPr>
          <p:spPr>
            <a:xfrm>
              <a:off x="1824809" y="2828726"/>
              <a:ext cx="1600169" cy="1131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128000" rIns="128000" bIns="128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 i="0" u="none" strike="noStrike" cap="none" dirty="0">
                  <a:solidFill>
                    <a:schemeClr val="lt1"/>
                  </a:solidFill>
                  <a:latin typeface="+mn-ea"/>
                  <a:ea typeface="+mn-ea"/>
                  <a:cs typeface="Gulim"/>
                  <a:sym typeface="Gulim"/>
                </a:rPr>
                <a:t>목표시장</a:t>
              </a:r>
              <a:endParaRPr lang="en-US" altLang="ko-KR" sz="1800" b="1" i="0" u="none" strike="noStrike" cap="none" dirty="0">
                <a:solidFill>
                  <a:schemeClr val="lt1"/>
                </a:solidFill>
                <a:latin typeface="+mn-ea"/>
                <a:ea typeface="+mn-ea"/>
                <a:cs typeface="Gulim"/>
                <a:sym typeface="Gulim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+mn-ea"/>
                  <a:ea typeface="+mn-ea"/>
                  <a:sym typeface="Gulim"/>
                </a:rPr>
                <a:t>SOM</a:t>
              </a:r>
              <a:endParaRPr b="1" dirty="0">
                <a:latin typeface="+mn-ea"/>
                <a:ea typeface="+mn-ea"/>
              </a:endParaRPr>
            </a:p>
          </p:txBody>
        </p:sp>
      </p:grpSp>
      <p:sp>
        <p:nvSpPr>
          <p:cNvPr id="209" name="Google Shape;209;p5"/>
          <p:cNvSpPr txBox="1"/>
          <p:nvPr/>
        </p:nvSpPr>
        <p:spPr>
          <a:xfrm>
            <a:off x="5745088" y="1556792"/>
            <a:ext cx="3579826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&lt;예시&gt;</a:t>
            </a:r>
            <a:endParaRPr b="1" dirty="0">
              <a:latin typeface="+mn-ea"/>
              <a:ea typeface="+mn-e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한국 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5,120</a:t>
            </a: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만명</a:t>
            </a: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한국학생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, </a:t>
            </a: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한국교사 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930</a:t>
            </a: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만명</a:t>
            </a:r>
            <a:endParaRPr lang="en-US" altLang="ko-KR"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endParaRPr lang="en-US"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컴퓨터 비전공자 혹은 컴퓨터 관련 전공 희망 학생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, </a:t>
            </a:r>
            <a:r>
              <a:rPr lang="ko-KR" altLang="en-US" sz="1400" b="1" dirty="0" err="1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방과후</a:t>
            </a: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 프로그램 교사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: 580</a:t>
            </a: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만명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(</a:t>
            </a:r>
            <a:r>
              <a:rPr lang="ko-KR" altLang="en-US" sz="1400" b="1" dirty="0" err="1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방과후프로그램은</a:t>
            </a: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 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22</a:t>
            </a:r>
            <a:r>
              <a:rPr lang="ko-KR" altLang="en-US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년 기준</a:t>
            </a:r>
            <a:r>
              <a:rPr lang="en-US" altLang="ko-KR" sz="1400" b="1" dirty="0">
                <a:solidFill>
                  <a:schemeClr val="dk1"/>
                </a:solidFill>
                <a:latin typeface="+mn-ea"/>
                <a:ea typeface="+mn-ea"/>
                <a:cs typeface="Gulim"/>
                <a:sym typeface="Gulim"/>
              </a:rPr>
              <a:t>)</a:t>
            </a:r>
            <a:endParaRPr sz="1400" b="1" dirty="0">
              <a:solidFill>
                <a:schemeClr val="dk1"/>
              </a:solidFill>
              <a:latin typeface="+mn-ea"/>
              <a:ea typeface="+mn-ea"/>
              <a:cs typeface="Gulim"/>
              <a:sym typeface="Gulim"/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4411024" y="2620895"/>
            <a:ext cx="1250090" cy="0"/>
          </a:xfrm>
          <a:prstGeom prst="straightConnector1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4119613" y="3658820"/>
            <a:ext cx="1541501" cy="8405"/>
          </a:xfrm>
          <a:prstGeom prst="straightConnector1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763478" y="4947385"/>
            <a:ext cx="1897636" cy="1219"/>
          </a:xfrm>
          <a:prstGeom prst="straightConnector1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227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622f2e84f2_0_56"/>
          <p:cNvSpPr txBox="1">
            <a:spLocks noGrp="1"/>
          </p:cNvSpPr>
          <p:nvPr>
            <p:ph type="title"/>
          </p:nvPr>
        </p:nvSpPr>
        <p:spPr>
          <a:xfrm>
            <a:off x="495300" y="44624"/>
            <a:ext cx="8915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창업 아이템 </a:t>
            </a:r>
            <a:r>
              <a:rPr lang="ko-KR" dirty="0"/>
              <a:t>SWOT</a:t>
            </a:r>
            <a:endParaRPr dirty="0"/>
          </a:p>
        </p:txBody>
      </p:sp>
      <p:sp>
        <p:nvSpPr>
          <p:cNvPr id="144" name="Google Shape;144;g1622f2e84f2_0_56"/>
          <p:cNvSpPr txBox="1">
            <a:spLocks noGrp="1"/>
          </p:cNvSpPr>
          <p:nvPr>
            <p:ph type="sldNum" idx="12"/>
          </p:nvPr>
        </p:nvSpPr>
        <p:spPr>
          <a:xfrm>
            <a:off x="7401272" y="6386006"/>
            <a:ext cx="2311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graphicFrame>
        <p:nvGraphicFramePr>
          <p:cNvPr id="145" name="Google Shape;145;g1622f2e84f2_0_56"/>
          <p:cNvGraphicFramePr/>
          <p:nvPr>
            <p:extLst>
              <p:ext uri="{D42A27DB-BD31-4B8C-83A1-F6EECF244321}">
                <p14:modId xmlns:p14="http://schemas.microsoft.com/office/powerpoint/2010/main" val="1943857707"/>
              </p:ext>
            </p:extLst>
          </p:nvPr>
        </p:nvGraphicFramePr>
        <p:xfrm>
          <a:off x="386556" y="886741"/>
          <a:ext cx="9132888" cy="61568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4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38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SWOT </a:t>
                      </a:r>
                      <a:r>
                        <a:rPr lang="ko-KR" altLang="en-US" sz="1600" b="1" dirty="0"/>
                        <a:t>분석</a:t>
                      </a:r>
                      <a:endParaRPr sz="1600" b="1" dirty="0"/>
                    </a:p>
                  </a:txBody>
                  <a:tcPr marL="91425" marR="91425" marT="91425" marB="914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Strength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강점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dirty="0"/>
                        <a:t>- AI</a:t>
                      </a:r>
                      <a:r>
                        <a:rPr lang="ko-KR" altLang="en-US" sz="1600" dirty="0"/>
                        <a:t>툴 기반 제작방법에 대한 가이드라인 존재</a:t>
                      </a:r>
                      <a:br>
                        <a:rPr lang="ko-KR" altLang="en-US" sz="1600" dirty="0"/>
                      </a:b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어느 정도의 관련 경험이 있는 경영진</a:t>
                      </a:r>
                      <a:br>
                        <a:rPr lang="ko-KR" altLang="en-US" sz="1600" dirty="0"/>
                      </a:b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적고 빠른 절차로 요약자료와 평가자료를 자세하게 만들 수 있음</a:t>
                      </a:r>
                    </a:p>
                  </a:txBody>
                  <a:tcPr marL="91425" marR="91425" marT="91425" marB="9142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Weakness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약점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소비층의 폭이 다양하여 서로 다른 요구사항들을 모두 만족시킬 수 있어야 함</a:t>
                      </a:r>
                      <a:br>
                        <a:rPr lang="ko-KR" altLang="en-US" sz="1600" dirty="0"/>
                      </a:b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낮은 브랜드 인지도 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04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Opportunity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기회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 err="1"/>
                        <a:t>방과후</a:t>
                      </a:r>
                      <a:r>
                        <a:rPr lang="ko-KR" altLang="en-US" sz="1600" dirty="0"/>
                        <a:t> 교육시장이 점진적으로 성장하고 있음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 err="1"/>
                        <a:t>실사용되고</a:t>
                      </a:r>
                      <a:r>
                        <a:rPr lang="ko-KR" altLang="en-US" sz="1600" dirty="0"/>
                        <a:t> 있는 기술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제품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이 존재하지 않음</a:t>
                      </a:r>
                      <a:endParaRPr lang="en-US" altLang="ko-KR" sz="1600" dirty="0"/>
                    </a:p>
                  </a:txBody>
                  <a:tcPr marL="91425" marR="91425" marT="91425" marB="9142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/>
                        <a:t>S-O </a:t>
                      </a:r>
                      <a:r>
                        <a:rPr lang="ko-KR" altLang="en-US" sz="1600" b="1" dirty="0"/>
                        <a:t>전략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/>
                        <a:t>제공된 </a:t>
                      </a:r>
                      <a:r>
                        <a:rPr lang="en-US" altLang="ko-KR" sz="1600" dirty="0"/>
                        <a:t>AI</a:t>
                      </a:r>
                      <a:r>
                        <a:rPr lang="ko-KR" altLang="en-US" sz="1600" dirty="0"/>
                        <a:t>툴을 기반으로 교육시장에 적합한 플랫폼과 컨텐츠를 제공하고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여러 교육기관에서 사용할 수 있도록 확장</a:t>
                      </a:r>
                      <a:endParaRPr sz="16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/>
                        <a:t>W-O </a:t>
                      </a:r>
                      <a:r>
                        <a:rPr lang="ko-KR" altLang="en-US" sz="1600" b="1" dirty="0"/>
                        <a:t>전략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 err="1"/>
                        <a:t>방과후</a:t>
                      </a:r>
                      <a:r>
                        <a:rPr lang="ko-KR" altLang="en-US" sz="1600" dirty="0"/>
                        <a:t> 교육시장에 실사용 할 수 있도록 제작된 창업 아이템을 실제 현장에서 테스트해보고 보완하여 </a:t>
                      </a:r>
                      <a:r>
                        <a:rPr lang="ko-KR" altLang="en-US" sz="1600" dirty="0" err="1"/>
                        <a:t>실사용할</a:t>
                      </a:r>
                      <a:r>
                        <a:rPr lang="ko-KR" altLang="en-US" sz="1600" dirty="0"/>
                        <a:t> 수 있는 독보적 제품으로 만들고 홍보하여 브랜드 가치를 높임</a:t>
                      </a:r>
                      <a:endParaRPr sz="16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38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Threat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위협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이미 다양한 경쟁사와 교육 추천 </a:t>
                      </a:r>
                      <a:r>
                        <a:rPr lang="en-US" altLang="ko-KR" sz="1600" dirty="0"/>
                        <a:t>AI</a:t>
                      </a:r>
                      <a:r>
                        <a:rPr lang="ko-KR" altLang="en-US" sz="1600" dirty="0"/>
                        <a:t>가 존재</a:t>
                      </a:r>
                      <a:br>
                        <a:rPr lang="ko-KR" altLang="en-US" sz="1600" dirty="0"/>
                      </a:br>
                      <a:r>
                        <a:rPr lang="en-US" altLang="ko-KR" sz="1600" dirty="0"/>
                        <a:t>- AI</a:t>
                      </a:r>
                      <a:r>
                        <a:rPr lang="ko-KR" altLang="en-US" sz="1600" dirty="0"/>
                        <a:t>가 학습할 자료에 대한 저작권 문제</a:t>
                      </a:r>
                      <a:br>
                        <a:rPr lang="ko-KR" altLang="en-US" sz="1600" dirty="0"/>
                      </a:b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연동해야 할 기관별 </a:t>
                      </a:r>
                      <a:r>
                        <a:rPr lang="en-US" altLang="ko-KR" sz="1600" dirty="0"/>
                        <a:t>LMS </a:t>
                      </a:r>
                      <a:r>
                        <a:rPr lang="ko-KR" altLang="en-US" sz="1600" dirty="0"/>
                        <a:t>또는 공교육 사이트들의 시스템이 모두 다름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/>
                        <a:t>S-T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전략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dirty="0"/>
                        <a:t>적고 빠른 절차로 요약자료와 평가자료를 만들 수 있음을 강조하여 다양한 경쟁사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추천 </a:t>
                      </a:r>
                      <a:r>
                        <a:rPr lang="en" altLang="ko-KR" sz="1600" dirty="0"/>
                        <a:t>AI</a:t>
                      </a:r>
                      <a:r>
                        <a:rPr lang="ko-KR" altLang="en-US" sz="1600" dirty="0"/>
                        <a:t>들과의 차별점을 만들어내고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통일된 형태로 모든 교육기관과 연동이 가능하도록 하여 편의성을 높임</a:t>
                      </a:r>
                      <a:endParaRPr sz="16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/>
                        <a:t>W-T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전략</a:t>
                      </a:r>
                      <a:endParaRPr lang="en-US" altLang="ko-KR" sz="16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altLang="ko-KR" sz="1600" dirty="0"/>
                        <a:t>AI </a:t>
                      </a:r>
                      <a:r>
                        <a:rPr lang="ko-KR" altLang="en-US" sz="1600" dirty="0"/>
                        <a:t>학습에 대한 저작권 문제를 방지할 가이드라인 및 학습 구조 형성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/>
                        <a:t>창업 아이템을 필요로 할 공교육기관과 협의하여 해당 기관들의 요구사항을 확인하여 연동될 수 있는 시스템을 구축</a:t>
                      </a:r>
                      <a:endParaRPr sz="16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00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655D4C2-A8DA-ED9D-21DB-0DD0ABF98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ko-KR" altLang="en-US" dirty="0"/>
              <a:t>경쟁제품 비교분석</a:t>
            </a:r>
          </a:p>
        </p:txBody>
      </p:sp>
      <p:sp>
        <p:nvSpPr>
          <p:cNvPr id="192" name="Google Shape;192;p4"/>
          <p:cNvSpPr txBox="1">
            <a:spLocks noGrp="1"/>
          </p:cNvSpPr>
          <p:nvPr>
            <p:ph type="body" idx="2"/>
          </p:nvPr>
        </p:nvSpPr>
        <p:spPr>
          <a:xfrm>
            <a:off x="497291" y="764704"/>
            <a:ext cx="8913410" cy="792088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/>
            <a:r>
              <a:rPr lang="ko-KR" altLang="en-US" dirty="0"/>
              <a:t>경쟁제품 비교 예시 </a:t>
            </a:r>
            <a:r>
              <a:rPr lang="en-US" altLang="ko-KR" dirty="0"/>
              <a:t>(SaaS </a:t>
            </a:r>
            <a:r>
              <a:rPr lang="ko-KR" altLang="en-US" dirty="0"/>
              <a:t>제품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3" name="Google Shape;193;p4"/>
          <p:cNvSpPr txBox="1">
            <a:spLocks noGrp="1"/>
          </p:cNvSpPr>
          <p:nvPr>
            <p:ph type="sldNum" idx="12"/>
          </p:nvPr>
        </p:nvSpPr>
        <p:spPr>
          <a:xfrm>
            <a:off x="7401272" y="6386006"/>
            <a:ext cx="23114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US" altLang="ko-KR"/>
              <a:pPr lvl="0"/>
              <a:t>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5300" y="5903694"/>
            <a:ext cx="8534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+mn-ea"/>
                <a:ea typeface="+mn-ea"/>
              </a:rPr>
              <a:t>* </a:t>
            </a:r>
            <a:r>
              <a:rPr lang="ko-KR" altLang="en-US" sz="1100" dirty="0" err="1">
                <a:latin typeface="+mn-ea"/>
                <a:ea typeface="+mn-ea"/>
              </a:rPr>
              <a:t>비교항목은</a:t>
            </a:r>
            <a:r>
              <a:rPr lang="ko-KR" altLang="en-US" sz="1100" dirty="0">
                <a:latin typeface="+mn-ea"/>
                <a:ea typeface="+mn-ea"/>
              </a:rPr>
              <a:t> 가격</a:t>
            </a:r>
            <a:r>
              <a:rPr lang="en-US" altLang="ko-KR" sz="1100" dirty="0">
                <a:latin typeface="+mn-ea"/>
                <a:ea typeface="+mn-ea"/>
              </a:rPr>
              <a:t>, </a:t>
            </a:r>
            <a:r>
              <a:rPr lang="ko-KR" altLang="en-US" sz="1100" dirty="0">
                <a:latin typeface="+mn-ea"/>
                <a:ea typeface="+mn-ea"/>
              </a:rPr>
              <a:t>품질</a:t>
            </a:r>
            <a:r>
              <a:rPr lang="en-US" altLang="ko-KR" sz="1100" dirty="0">
                <a:latin typeface="+mn-ea"/>
                <a:ea typeface="+mn-ea"/>
              </a:rPr>
              <a:t>, </a:t>
            </a:r>
            <a:r>
              <a:rPr lang="ko-KR" altLang="en-US" sz="1100" dirty="0">
                <a:latin typeface="+mn-ea"/>
                <a:ea typeface="+mn-ea"/>
              </a:rPr>
              <a:t>성능</a:t>
            </a:r>
            <a:r>
              <a:rPr lang="en-US" altLang="ko-KR" sz="1100" dirty="0">
                <a:latin typeface="+mn-ea"/>
                <a:ea typeface="+mn-ea"/>
              </a:rPr>
              <a:t>, </a:t>
            </a:r>
            <a:r>
              <a:rPr lang="ko-KR" altLang="en-US" sz="1100" dirty="0">
                <a:latin typeface="+mn-ea"/>
                <a:ea typeface="+mn-ea"/>
              </a:rPr>
              <a:t>디자인</a:t>
            </a:r>
            <a:r>
              <a:rPr lang="en-US" altLang="ko-KR" sz="1100" dirty="0">
                <a:latin typeface="+mn-ea"/>
                <a:ea typeface="+mn-ea"/>
              </a:rPr>
              <a:t>, </a:t>
            </a:r>
            <a:r>
              <a:rPr lang="ko-KR" altLang="en-US" sz="1100" dirty="0">
                <a:latin typeface="+mn-ea"/>
                <a:ea typeface="+mn-ea"/>
              </a:rPr>
              <a:t>편리성</a:t>
            </a:r>
            <a:r>
              <a:rPr lang="en-US" altLang="ko-KR" sz="1100" dirty="0">
                <a:latin typeface="+mn-ea"/>
                <a:ea typeface="+mn-ea"/>
              </a:rPr>
              <a:t>, </a:t>
            </a:r>
            <a:r>
              <a:rPr lang="ko-KR" altLang="en-US" sz="1100" dirty="0">
                <a:latin typeface="+mn-ea"/>
                <a:ea typeface="+mn-ea"/>
              </a:rPr>
              <a:t>서비스 등 고객의 선택 기준이며 타 제품대비 우수성을 강조할 수 있는 항목으로 설정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E3A2EA1-BED9-6977-F4A5-89319881E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768511"/>
              </p:ext>
            </p:extLst>
          </p:nvPr>
        </p:nvGraphicFramePr>
        <p:xfrm>
          <a:off x="495300" y="1600202"/>
          <a:ext cx="8915400" cy="41655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3357301629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19869558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1763795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489209573"/>
                    </a:ext>
                  </a:extLst>
                </a:gridCol>
              </a:tblGrid>
              <a:tr h="33489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</a:rPr>
                        <a:t>비교 항목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" altLang="ko-KR" sz="1200" kern="100" dirty="0">
                          <a:effectLst/>
                        </a:rPr>
                        <a:t>Quizlet 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" altLang="ko-KR" sz="12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Mindgrasp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altLang="ko-KR" sz="12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YouLearnAI</a:t>
                      </a:r>
                      <a:r>
                        <a:rPr lang="en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5453163"/>
                  </a:ext>
                </a:extLst>
              </a:tr>
              <a:tr h="93634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</a:rPr>
                        <a:t>기능</a:t>
                      </a:r>
                      <a:r>
                        <a:rPr lang="en-US" sz="1200" kern="100" dirty="0">
                          <a:effectLst/>
                        </a:rPr>
                        <a:t> (Features)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AI </a:t>
                      </a:r>
                      <a:r>
                        <a:rPr lang="ko-KR" sz="1200" kern="100" dirty="0">
                          <a:effectLst/>
                        </a:rPr>
                        <a:t>기반 데이터 분석 기능 제공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sz="1200" kern="100" dirty="0">
                          <a:effectLst/>
                        </a:rPr>
                        <a:t>클라우드 통합 지원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sz="1200" kern="100" dirty="0">
                          <a:effectLst/>
                        </a:rPr>
                        <a:t>실시간 협업 기능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비디오 </a:t>
                      </a:r>
                      <a:r>
                        <a:rPr lang="ko-KR" altLang="en-US" sz="1200" kern="100" dirty="0" err="1">
                          <a:effectLst/>
                        </a:rPr>
                        <a:t>오약</a:t>
                      </a:r>
                      <a:r>
                        <a:rPr lang="en-US" altLang="ko-KR" sz="1200" kern="100" dirty="0">
                          <a:effectLst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</a:rPr>
                        <a:t> 강의녹화 요약</a:t>
                      </a:r>
                      <a:r>
                        <a:rPr lang="en-US" altLang="ko-KR" sz="1200" kern="100" dirty="0">
                          <a:effectLst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</a:rPr>
                        <a:t> 문서 요약 등 다양한 입력을 다루는 </a:t>
                      </a:r>
                      <a:r>
                        <a:rPr lang="en-US" altLang="ko-KR" sz="1200" kern="100" dirty="0">
                          <a:effectLst/>
                        </a:rPr>
                        <a:t>AI</a:t>
                      </a:r>
                      <a:r>
                        <a:rPr lang="ko-KR" altLang="en-US" sz="1200" kern="100" dirty="0">
                          <a:effectLst/>
                        </a:rPr>
                        <a:t> 요약 기능 제공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AI</a:t>
                      </a:r>
                      <a:r>
                        <a:rPr lang="ko-KR" altLang="en-US" sz="1200" kern="100" dirty="0">
                          <a:effectLst/>
                        </a:rPr>
                        <a:t>기반 요약 및 퀴즈 제공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04153873"/>
                  </a:ext>
                </a:extLst>
              </a:tr>
              <a:tr h="93634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</a:rPr>
                        <a:t>가격</a:t>
                      </a:r>
                      <a:r>
                        <a:rPr lang="en-US" sz="1200" kern="100" dirty="0">
                          <a:effectLst/>
                        </a:rPr>
                        <a:t> (Price)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기본 무료 사용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sz="1200" kern="100" dirty="0">
                          <a:effectLst/>
                        </a:rPr>
                        <a:t>프리미엄 기능 </a:t>
                      </a:r>
                      <a:r>
                        <a:rPr lang="ko-KR" sz="1200" kern="100" dirty="0" err="1">
                          <a:effectLst/>
                        </a:rPr>
                        <a:t>추</a:t>
                      </a:r>
                      <a:r>
                        <a:rPr lang="ko-KR" altLang="en-US" sz="1200" kern="100" dirty="0" err="1">
                          <a:effectLst/>
                        </a:rPr>
                        <a:t>가시</a:t>
                      </a:r>
                      <a:r>
                        <a:rPr lang="ko-KR" altLang="en-US" sz="1200" kern="100" dirty="0">
                          <a:effectLst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</a:rPr>
                        <a:t>8~10</a:t>
                      </a:r>
                      <a:r>
                        <a:rPr lang="ko-KR" altLang="en-US" sz="1200" kern="100" dirty="0">
                          <a:effectLst/>
                        </a:rPr>
                        <a:t>달러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sz="1200" kern="100" dirty="0">
                          <a:effectLst/>
                        </a:rPr>
                        <a:t>월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</a:rPr>
                        <a:t>10~15</a:t>
                      </a:r>
                      <a:r>
                        <a:rPr lang="ko-KR" altLang="en-US" sz="1200" kern="100" dirty="0">
                          <a:effectLst/>
                        </a:rPr>
                        <a:t>달러</a:t>
                      </a:r>
                      <a:r>
                        <a:rPr lang="en-US" sz="1200" kern="100" dirty="0">
                          <a:effectLst/>
                        </a:rPr>
                        <a:t> (</a:t>
                      </a:r>
                      <a:r>
                        <a:rPr lang="ko-KR" altLang="en-US" sz="1200" kern="100" dirty="0">
                          <a:effectLst/>
                        </a:rPr>
                        <a:t>프리미엄</a:t>
                      </a:r>
                      <a:r>
                        <a:rPr lang="en-US" sz="1200" kern="100" dirty="0">
                          <a:effectLst/>
                        </a:rPr>
                        <a:t>)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</a:rPr>
                        <a:t>무료체험 제공</a:t>
                      </a:r>
                      <a:endParaRPr lang="en-US" altLang="ko-KR" sz="1200" kern="100" dirty="0">
                        <a:effectLst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</a:rPr>
                        <a:t>플랜에 따라 용량</a:t>
                      </a:r>
                      <a:r>
                        <a:rPr lang="en-US" altLang="ko-KR" sz="1200" kern="100" dirty="0">
                          <a:effectLst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</a:rPr>
                        <a:t> 퀴즈 생성 횟수 제한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</a:rPr>
                        <a:t>무료 체험존재</a:t>
                      </a:r>
                      <a:endParaRPr lang="en-US" altLang="ko-KR" sz="1200" kern="100" dirty="0">
                        <a:effectLst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월 </a:t>
                      </a: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10~15</a:t>
                      </a:r>
                      <a:r>
                        <a:rPr lang="ko-KR" altLang="en-US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달러</a:t>
                      </a:r>
                      <a:endParaRPr lang="en-US" alt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기능별 차등 과금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811664"/>
                  </a:ext>
                </a:extLst>
              </a:tr>
              <a:tr h="63562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</a:rPr>
                        <a:t>고객 지원</a:t>
                      </a:r>
                      <a:r>
                        <a:rPr lang="en-US" sz="1200" kern="100" dirty="0">
                          <a:effectLst/>
                        </a:rPr>
                        <a:t> (Support)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대규모 </a:t>
                      </a:r>
                      <a:r>
                        <a:rPr lang="ko-KR" altLang="en-US" sz="1200" kern="100" dirty="0" err="1">
                          <a:effectLst/>
                        </a:rPr>
                        <a:t>헬프센터</a:t>
                      </a:r>
                      <a:r>
                        <a:rPr lang="en-US" altLang="ko-KR" sz="1200" kern="100" dirty="0">
                          <a:effectLst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</a:rPr>
                        <a:t>FAQ</a:t>
                      </a:r>
                      <a:r>
                        <a:rPr lang="ko-KR" altLang="en-US" sz="1200" kern="100" dirty="0">
                          <a:effectLst/>
                        </a:rPr>
                        <a:t>커뮤니티 포럼 제공</a:t>
                      </a:r>
                      <a:r>
                        <a:rPr lang="ko-KR" sz="1200" kern="100" dirty="0">
                          <a:effectLst/>
                        </a:rPr>
                        <a:t> 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이메일 </a:t>
                      </a:r>
                      <a:r>
                        <a:rPr lang="en-US" altLang="ko-KR" sz="1200" kern="100" dirty="0">
                          <a:effectLst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</a:rPr>
                        <a:t> 문의 양식 중심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이메일 문의 </a:t>
                      </a:r>
                      <a:r>
                        <a:rPr lang="en-US" altLang="ko-KR" sz="1200" kern="100" dirty="0">
                          <a:effectLst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</a:rPr>
                        <a:t> 간단한 튜토리얼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8458981"/>
                  </a:ext>
                </a:extLst>
              </a:tr>
              <a:tr h="63562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사용자 인터페이스</a:t>
                      </a:r>
                      <a:r>
                        <a:rPr lang="en-US" sz="1200" kern="100" dirty="0">
                          <a:effectLst/>
                        </a:rPr>
                        <a:t> (UI)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</a:rPr>
                        <a:t>단순하고 직관적</a:t>
                      </a:r>
                      <a:endParaRPr lang="en-US" altLang="ko-KR" sz="1200" kern="100" dirty="0">
                        <a:effectLst/>
                      </a:endParaRP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학습 인터페이스가 익숙하고 쉬움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</a:rPr>
                        <a:t>깔끔하고 모던함</a:t>
                      </a:r>
                      <a:r>
                        <a:rPr lang="en-US" altLang="ko-KR" sz="1200" kern="100" dirty="0">
                          <a:effectLst/>
                        </a:rPr>
                        <a:t>.</a:t>
                      </a:r>
                    </a:p>
                    <a:p>
                      <a:pPr marL="171450" indent="-171450" latinLnBrk="1">
                        <a:spcAft>
                          <a:spcPts val="800"/>
                        </a:spcAft>
                        <a:buFontTx/>
                        <a:buChar char="-"/>
                      </a:pPr>
                      <a:r>
                        <a:rPr lang="ko-KR" altLang="en-US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 업로드 </a:t>
                      </a: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-&gt;</a:t>
                      </a:r>
                      <a:r>
                        <a:rPr lang="ko-KR" altLang="en-US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요약</a:t>
                      </a:r>
                      <a:r>
                        <a:rPr lang="en-US" altLang="ko-KR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-&gt;</a:t>
                      </a:r>
                      <a:r>
                        <a:rPr lang="ko-KR" altLang="en-US" sz="12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퀴즈생성의 흐름이 매끄러움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직관적</a:t>
                      </a:r>
                      <a:r>
                        <a:rPr lang="en-US" altLang="ko-KR" sz="1200" kern="100" dirty="0">
                          <a:effectLst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</a:rPr>
                        <a:t> 단순한 </a:t>
                      </a:r>
                      <a:r>
                        <a:rPr lang="en-US" altLang="ko-KR" sz="1200" kern="100" dirty="0">
                          <a:effectLst/>
                        </a:rPr>
                        <a:t>UI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2071958"/>
                  </a:ext>
                </a:extLst>
              </a:tr>
              <a:tr h="63562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차별화 요소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</a:t>
                      </a:r>
                      <a:r>
                        <a:rPr lang="ko-KR" altLang="en-US" sz="1200" kern="100" dirty="0">
                          <a:effectLst/>
                        </a:rPr>
                        <a:t> 강의요약 기능이 존재함</a:t>
                      </a:r>
                      <a:r>
                        <a:rPr lang="en-US" altLang="ko-KR" sz="1200" kern="100" dirty="0">
                          <a:effectLst/>
                        </a:rPr>
                        <a:t>.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교사용</a:t>
                      </a:r>
                      <a:r>
                        <a:rPr lang="en-US" altLang="ko-KR" sz="1200" kern="100" dirty="0">
                          <a:effectLst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</a:rPr>
                        <a:t> 기관용 기능에 강점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- </a:t>
                      </a:r>
                      <a:r>
                        <a:rPr lang="ko-KR" altLang="en-US" sz="1200" kern="100" dirty="0">
                          <a:effectLst/>
                        </a:rPr>
                        <a:t>기관 및 교사 대상 확장성존재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3477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26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</p:spPr>
        <p:txBody>
          <a:bodyPr/>
          <a:lstStyle/>
          <a:p>
            <a:r>
              <a:rPr lang="ko-KR" altLang="en-US" sz="2433" dirty="0"/>
              <a:t>작성 예시</a:t>
            </a:r>
            <a:endParaRPr lang="en-US" altLang="ko-KR" sz="2400" dirty="0"/>
          </a:p>
          <a:p>
            <a:pPr lvl="1"/>
            <a:endParaRPr lang="en-US" altLang="ko-KR" sz="100" dirty="0"/>
          </a:p>
          <a:p>
            <a:pPr lvl="1"/>
            <a:endParaRPr lang="en-US" altLang="ko-KR" sz="100" dirty="0"/>
          </a:p>
        </p:txBody>
      </p:sp>
      <p:sp>
        <p:nvSpPr>
          <p:cNvPr id="18433" name="제목 3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en-US" altLang="ko-KR" dirty="0"/>
              <a:t>4P </a:t>
            </a:r>
            <a:r>
              <a:rPr lang="ko-KR" altLang="en-US" dirty="0"/>
              <a:t>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/>
          <a:lstStyle/>
          <a:p>
            <a:r>
              <a:rPr lang="en-US" altLang="ko-KR" dirty="0"/>
              <a:t>4P </a:t>
            </a:r>
            <a:r>
              <a:rPr lang="ko-KR" altLang="en-US" dirty="0"/>
              <a:t>분석을 통한 창업 전략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/>
          <a:p>
            <a:fld id="{0D485768-0143-4430-8742-4A42A1DE8B43}" type="slidenum">
              <a:rPr lang="ko-KR" altLang="en-US" smtClean="0"/>
              <a:pPr/>
              <a:t>7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D3E9D4A-D384-EFBB-7DB7-4BF0C5F06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336193"/>
              </p:ext>
            </p:extLst>
          </p:nvPr>
        </p:nvGraphicFramePr>
        <p:xfrm>
          <a:off x="495300" y="2132856"/>
          <a:ext cx="8915400" cy="41764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97460">
                  <a:extLst>
                    <a:ext uri="{9D8B030D-6E8A-4147-A177-3AD203B41FA5}">
                      <a16:colId xmlns:a16="http://schemas.microsoft.com/office/drawing/2014/main" val="327260329"/>
                    </a:ext>
                  </a:extLst>
                </a:gridCol>
                <a:gridCol w="6617940">
                  <a:extLst>
                    <a:ext uri="{9D8B030D-6E8A-4147-A177-3AD203B41FA5}">
                      <a16:colId xmlns:a16="http://schemas.microsoft.com/office/drawing/2014/main" val="215194975"/>
                    </a:ext>
                  </a:extLst>
                </a:gridCol>
              </a:tblGrid>
              <a:tr h="43166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4P </a:t>
                      </a:r>
                      <a:r>
                        <a:rPr lang="ko-KR" sz="1800" kern="100" dirty="0">
                          <a:effectLst/>
                        </a:rPr>
                        <a:t>요소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ko-KR" altLang="en-US" sz="1800" kern="100" dirty="0">
                          <a:effectLst/>
                        </a:rPr>
                        <a:t>예시</a:t>
                      </a:r>
                      <a:r>
                        <a:rPr lang="en-US" sz="1800" kern="100" dirty="0">
                          <a:effectLst/>
                        </a:rPr>
                        <a:t>: </a:t>
                      </a:r>
                      <a:r>
                        <a:rPr lang="ko-KR" sz="1800" kern="100" dirty="0">
                          <a:effectLst/>
                        </a:rPr>
                        <a:t>스타트업</a:t>
                      </a:r>
                      <a:r>
                        <a:rPr lang="en-US" sz="1800" kern="100" dirty="0">
                          <a:effectLst/>
                        </a:rPr>
                        <a:t> A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79898218"/>
                  </a:ext>
                </a:extLst>
              </a:tr>
              <a:tr h="83529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Product (</a:t>
                      </a:r>
                      <a:r>
                        <a:rPr lang="ko-KR" sz="1800" kern="100" dirty="0">
                          <a:effectLst/>
                        </a:rPr>
                        <a:t>제품</a:t>
                      </a:r>
                      <a:r>
                        <a:rPr lang="en-US" sz="1800" kern="100" dirty="0">
                          <a:effectLst/>
                        </a:rPr>
                        <a:t>)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 AI 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기반 학습 플랫폼</a:t>
                      </a: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수업 요약과 퀴즈로 복습 가능</a:t>
                      </a: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직관적이고 간단한 </a:t>
                      </a:r>
                      <a:r>
                        <a:rPr lang="en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UI/UX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04365117"/>
                  </a:ext>
                </a:extLst>
              </a:tr>
              <a:tr h="83529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Price (</a:t>
                      </a:r>
                      <a:r>
                        <a:rPr lang="ko-KR" sz="1800" kern="100" dirty="0">
                          <a:effectLst/>
                        </a:rPr>
                        <a:t>가격</a:t>
                      </a:r>
                      <a:r>
                        <a:rPr lang="en-US" sz="1800" kern="100" dirty="0">
                          <a:effectLst/>
                        </a:rPr>
                        <a:t>)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관련 기업과의 </a:t>
                      </a:r>
                      <a:r>
                        <a:rPr lang="ko-KR" altLang="en-US" sz="1800" kern="1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인앱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광고를 통한 수익</a:t>
                      </a: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실제 사용자</a:t>
                      </a: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교사 및 학생</a:t>
                      </a: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는 무료로 이용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63944612"/>
                  </a:ext>
                </a:extLst>
              </a:tr>
              <a:tr h="83529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Place (</a:t>
                      </a:r>
                      <a:r>
                        <a:rPr lang="ko-KR" sz="1800" kern="100" dirty="0">
                          <a:effectLst/>
                        </a:rPr>
                        <a:t>유통</a:t>
                      </a:r>
                      <a:r>
                        <a:rPr lang="en-US" sz="1800" kern="100" dirty="0">
                          <a:effectLst/>
                        </a:rPr>
                        <a:t>)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800" kern="100" dirty="0">
                          <a:effectLst/>
                        </a:rPr>
                        <a:t>- </a:t>
                      </a:r>
                      <a:r>
                        <a:rPr lang="ko-KR" altLang="en-US" sz="1800" kern="100" dirty="0">
                          <a:effectLst/>
                        </a:rPr>
                        <a:t>안드로이드</a:t>
                      </a:r>
                      <a:r>
                        <a:rPr lang="en-US" altLang="ko-KR" sz="1800" kern="100" dirty="0">
                          <a:effectLst/>
                        </a:rPr>
                        <a:t>, </a:t>
                      </a:r>
                      <a:r>
                        <a:rPr lang="en-US" sz="1800" kern="100" dirty="0">
                          <a:effectLst/>
                        </a:rPr>
                        <a:t>IOS </a:t>
                      </a:r>
                      <a:r>
                        <a:rPr lang="ko-KR" altLang="en-US" sz="1800" kern="100" dirty="0">
                          <a:effectLst/>
                        </a:rPr>
                        <a:t>모두를 개발해 폭넓은 접근성</a:t>
                      </a: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800" kern="100" dirty="0">
                          <a:effectLst/>
                        </a:rPr>
                        <a:t>- </a:t>
                      </a:r>
                      <a:r>
                        <a:rPr lang="ko-KR" altLang="en-US" sz="1800" kern="100" dirty="0">
                          <a:effectLst/>
                        </a:rPr>
                        <a:t>온라인 </a:t>
                      </a:r>
                      <a:r>
                        <a:rPr lang="ko-KR" altLang="en-US" sz="1800" kern="100" dirty="0" err="1">
                          <a:effectLst/>
                        </a:rPr>
                        <a:t>마켓플레이스와</a:t>
                      </a:r>
                      <a:r>
                        <a:rPr lang="ko-KR" altLang="en-US" sz="1800" kern="100" dirty="0">
                          <a:effectLst/>
                        </a:rPr>
                        <a:t> 협업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5537747"/>
                  </a:ext>
                </a:extLst>
              </a:tr>
              <a:tr h="123892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Promotion (</a:t>
                      </a:r>
                      <a:r>
                        <a:rPr lang="ko-KR" sz="1800" kern="100" dirty="0">
                          <a:effectLst/>
                        </a:rPr>
                        <a:t>판촉</a:t>
                      </a:r>
                      <a:r>
                        <a:rPr lang="en-US" sz="1800" kern="100" dirty="0">
                          <a:effectLst/>
                        </a:rPr>
                        <a:t>)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학생보다 교사에게 집중적으로 홍보</a:t>
                      </a:r>
                    </a:p>
                    <a:p>
                      <a:pPr latinLnBrk="1">
                        <a:spcAft>
                          <a:spcPts val="800"/>
                        </a:spcAft>
                      </a:pPr>
                      <a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교사가 수업을 듣는 학생들에게 앱을 사용하도록 유도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127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66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30766</TotalTime>
  <Words>679</Words>
  <Application>Microsoft Macintosh PowerPoint</Application>
  <PresentationFormat>A4 용지(210x297mm)</PresentationFormat>
  <Paragraphs>129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굴림</vt:lpstr>
      <vt:lpstr>Malgun Gothic</vt:lpstr>
      <vt:lpstr>Malgun Gothic</vt:lpstr>
      <vt:lpstr>Arial</vt:lpstr>
      <vt:lpstr>Wingdings</vt:lpstr>
      <vt:lpstr>Office 테마</vt:lpstr>
      <vt:lpstr>시장조사 과제</vt:lpstr>
      <vt:lpstr>최종 선정된 창업 아이템 정의</vt:lpstr>
      <vt:lpstr>시장 수요 분석</vt:lpstr>
      <vt:lpstr>시장 수요 분석</vt:lpstr>
      <vt:lpstr>TAM/SAM/SOM 분석</vt:lpstr>
      <vt:lpstr>창업 아이템 SWOT</vt:lpstr>
      <vt:lpstr>경쟁제품 비교분석</vt:lpstr>
      <vt:lpstr>4P 분석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ETUSER</dc:creator>
  <cp:lastModifiedBy>이한</cp:lastModifiedBy>
  <cp:revision>1177</cp:revision>
  <cp:lastPrinted>2019-09-11T05:10:27Z</cp:lastPrinted>
  <dcterms:created xsi:type="dcterms:W3CDTF">2010-06-11T01:40:26Z</dcterms:created>
  <dcterms:modified xsi:type="dcterms:W3CDTF">2025-10-01T05:17:53Z</dcterms:modified>
</cp:coreProperties>
</file>